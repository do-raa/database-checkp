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e libre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orme lib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0A9F292D-EE4B-4E42-B37C-C227DA3B3B4A}" type="datetimeFigureOut">
              <a:rPr lang="fr-FR" smtClean="0"/>
              <a:t>05/05/2021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ABAD0B5A-E74A-421F-8D1A-2A764569EB8E}" type="slidenum">
              <a:rPr lang="fr-FR" smtClean="0"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ysql.com/" TargetMode="External"/><Relationship Id="rId2" Type="http://schemas.openxmlformats.org/officeDocument/2006/relationships/hyperlink" Target="https://db-engines.com/en/rank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stgresql.org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42910" y="1857364"/>
            <a:ext cx="7772400" cy="2857520"/>
          </a:xfrm>
          <a:solidFill>
            <a:schemeClr val="accent1"/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dirty="0" smtClean="0">
                <a:solidFill>
                  <a:schemeClr val="bg2"/>
                </a:solidFill>
                <a:latin typeface="Bahnschrift" pitchFamily="34" charset="0"/>
              </a:rPr>
              <a:t>THE RELATIONAL </a:t>
            </a:r>
            <a:r>
              <a:rPr lang="fr-FR" dirty="0" err="1" smtClean="0">
                <a:solidFill>
                  <a:schemeClr val="bg2"/>
                </a:solidFill>
                <a:latin typeface="Bahnschrift" pitchFamily="34" charset="0"/>
              </a:rPr>
              <a:t>database</a:t>
            </a:r>
            <a:r>
              <a:rPr lang="fr-FR" dirty="0" smtClean="0">
                <a:solidFill>
                  <a:schemeClr val="bg2"/>
                </a:solidFill>
                <a:latin typeface="Bahnschrift" pitchFamily="34" charset="0"/>
              </a:rPr>
              <a:t> management system </a:t>
            </a:r>
            <a:br>
              <a:rPr lang="fr-FR" dirty="0" smtClean="0">
                <a:solidFill>
                  <a:schemeClr val="bg2"/>
                </a:solidFill>
                <a:latin typeface="Bahnschrift" pitchFamily="34" charset="0"/>
              </a:rPr>
            </a:br>
            <a:r>
              <a:rPr lang="fr-FR" dirty="0" smtClean="0">
                <a:solidFill>
                  <a:schemeClr val="bg2"/>
                </a:solidFill>
                <a:latin typeface="Bahnschrift" pitchFamily="34" charset="0"/>
              </a:rPr>
              <a:t>RDBMS</a:t>
            </a:r>
            <a:endParaRPr lang="fr-FR" dirty="0">
              <a:solidFill>
                <a:schemeClr val="bg2"/>
              </a:solidFill>
              <a:latin typeface="Bahnschrift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>
                <a:solidFill>
                  <a:srgbClr val="FF0066"/>
                </a:solidFill>
                <a:latin typeface="Algerian" pitchFamily="82" charset="0"/>
              </a:rPr>
              <a:t>DEFINITION</a:t>
            </a:r>
            <a:endParaRPr lang="fr-FR" dirty="0">
              <a:solidFill>
                <a:srgbClr val="FF0066"/>
              </a:solidFill>
              <a:latin typeface="Algerian" pitchFamily="82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 </a:t>
            </a:r>
            <a:r>
              <a:rPr lang="en-US" b="1" dirty="0" smtClean="0"/>
              <a:t>relational database</a:t>
            </a:r>
            <a:r>
              <a:rPr lang="en-US" dirty="0" smtClean="0"/>
              <a:t> is a set of tables (datasets with rows and columns) that contain information relating to other tables in the database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SQL</a:t>
            </a:r>
            <a:r>
              <a:rPr lang="en-US" dirty="0" smtClean="0"/>
              <a:t>, or Structured Query Language, is the standard language for interacting with relational databases. With SQL, you can query, or ask questions of, the data in a relational database. Working with SQL and relational databases is an invaluable skill set for a data analyst, data engineer, or a data scientist.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00042"/>
            <a:ext cx="7467600" cy="562612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 smtClean="0"/>
              <a:t>MySQL</a:t>
            </a:r>
            <a:r>
              <a:rPr lang="en-US" dirty="0" smtClean="0"/>
              <a:t> </a:t>
            </a:r>
            <a:r>
              <a:rPr lang="en-US" dirty="0" smtClean="0"/>
              <a:t>happens to be one of the most popular databases, according to </a:t>
            </a:r>
            <a:r>
              <a:rPr lang="en-US" dirty="0" smtClean="0">
                <a:hlinkClick r:id="rId2"/>
              </a:rPr>
              <a:t>DB Engines Ranking</a:t>
            </a:r>
            <a:r>
              <a:rPr lang="en-US" dirty="0" smtClean="0"/>
              <a:t>. It’s a definite leader among SQL solutions, used by Google, LinkedIn, Amazon, Netflix, Twitter, and others. </a:t>
            </a:r>
            <a:r>
              <a:rPr lang="en-US" dirty="0" err="1" smtClean="0">
                <a:hlinkClick r:id="rId3"/>
              </a:rPr>
              <a:t>MySQL</a:t>
            </a:r>
            <a:r>
              <a:rPr lang="en-US" dirty="0" smtClean="0"/>
              <a:t> popularity has been growing a lot because teams increasingly prefer open-source solutions instead of commercial ones</a:t>
            </a:r>
            <a:r>
              <a:rPr lang="en-US" dirty="0" smtClean="0"/>
              <a:t>. </a:t>
            </a:r>
          </a:p>
          <a:p>
            <a:r>
              <a:rPr lang="en-US" b="1" dirty="0" err="1" smtClean="0"/>
              <a:t>PostgreSQL</a:t>
            </a:r>
            <a:r>
              <a:rPr lang="en-US" b="1" dirty="0" smtClean="0"/>
              <a:t> </a:t>
            </a:r>
            <a:r>
              <a:rPr lang="en-US" dirty="0" smtClean="0"/>
              <a:t>A </a:t>
            </a:r>
            <a:r>
              <a:rPr lang="en-US" dirty="0" smtClean="0"/>
              <a:t>tried-and-proven </a:t>
            </a:r>
            <a:r>
              <a:rPr lang="en-US" dirty="0" smtClean="0">
                <a:hlinkClick r:id="rId4"/>
              </a:rPr>
              <a:t>relational database</a:t>
            </a:r>
            <a:r>
              <a:rPr lang="en-US" dirty="0" smtClean="0"/>
              <a:t> that is known for supporting a lot of data types, intuitive storage of </a:t>
            </a:r>
            <a:r>
              <a:rPr lang="en-US" dirty="0" err="1" smtClean="0"/>
              <a:t>schemaless</a:t>
            </a:r>
            <a:r>
              <a:rPr lang="en-US" dirty="0" smtClean="0"/>
              <a:t> data, and rich functionality. Some developers go even as far as to claim that it’s the most advanced open-source database on the market. We wouldn’t go that far, but it’s definitely a highly universal solution.</a:t>
            </a:r>
          </a:p>
          <a:p>
            <a:endParaRPr lang="en-US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642918"/>
            <a:ext cx="7467600" cy="5483245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SQL </a:t>
            </a:r>
            <a:r>
              <a:rPr lang="en-US" b="1" dirty="0" err="1" smtClean="0"/>
              <a:t>Server</a:t>
            </a:r>
            <a:r>
              <a:rPr lang="en-US" dirty="0" err="1" smtClean="0"/>
              <a:t>Unlike</a:t>
            </a:r>
            <a:r>
              <a:rPr lang="en-US" dirty="0" smtClean="0"/>
              <a:t> </a:t>
            </a:r>
            <a:r>
              <a:rPr lang="en-US" dirty="0" err="1" smtClean="0"/>
              <a:t>Postgresql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MySQL</a:t>
            </a:r>
            <a:r>
              <a:rPr lang="en-US" dirty="0" smtClean="0"/>
              <a:t>, SQL Server is a commercial solution. It’s preferred by companies who are dealing with large traffic workloads on a regular basis. It’s also considered to be one of the most compatible systems with Windows </a:t>
            </a:r>
            <a:r>
              <a:rPr lang="en-US" dirty="0" err="1" smtClean="0"/>
              <a:t>services.The</a:t>
            </a:r>
            <a:r>
              <a:rPr lang="en-US" dirty="0" smtClean="0"/>
              <a:t> </a:t>
            </a:r>
            <a:r>
              <a:rPr lang="en-US" dirty="0" smtClean="0"/>
              <a:t>SQL Server infrastructure includes a lot of additional tools, like reporting services, integration systems, and analytics. For companies that manage multiple teams, these tools make a big difference in day-to-day work.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654164"/>
          </a:xfrm>
        </p:spPr>
        <p:txBody>
          <a:bodyPr>
            <a:normAutofit/>
          </a:bodyPr>
          <a:lstStyle/>
          <a:p>
            <a:r>
              <a:rPr lang="fr-FR" sz="2800" u="sng" dirty="0" err="1" smtClean="0">
                <a:solidFill>
                  <a:srgbClr val="FF0066"/>
                </a:solidFill>
                <a:latin typeface="Algerian" pitchFamily="82" charset="0"/>
              </a:rPr>
              <a:t>What’s</a:t>
            </a:r>
            <a:r>
              <a:rPr lang="fr-FR" sz="2800" u="sng" dirty="0" smtClean="0">
                <a:solidFill>
                  <a:srgbClr val="FF0066"/>
                </a:solidFill>
                <a:latin typeface="Algerian" pitchFamily="82" charset="0"/>
              </a:rPr>
              <a:t> the </a:t>
            </a:r>
            <a:r>
              <a:rPr lang="fr-FR" sz="2800" u="sng" dirty="0" err="1" smtClean="0">
                <a:solidFill>
                  <a:srgbClr val="FF0066"/>
                </a:solidFill>
                <a:latin typeface="Algerian" pitchFamily="82" charset="0"/>
              </a:rPr>
              <a:t>difference</a:t>
            </a:r>
            <a:r>
              <a:rPr lang="fr-FR" sz="2800" u="sng" dirty="0" smtClean="0">
                <a:solidFill>
                  <a:srgbClr val="FF0066"/>
                </a:solidFill>
                <a:latin typeface="Algerian" pitchFamily="82" charset="0"/>
              </a:rPr>
              <a:t> </a:t>
            </a:r>
            <a:r>
              <a:rPr lang="fr-FR" sz="2800" u="sng" dirty="0" err="1" smtClean="0">
                <a:solidFill>
                  <a:srgbClr val="FF0066"/>
                </a:solidFill>
                <a:latin typeface="Algerian" pitchFamily="82" charset="0"/>
              </a:rPr>
              <a:t>between</a:t>
            </a:r>
            <a:r>
              <a:rPr lang="fr-FR" sz="2800" u="sng" dirty="0" smtClean="0">
                <a:solidFill>
                  <a:srgbClr val="FF0066"/>
                </a:solidFill>
                <a:latin typeface="Algerian" pitchFamily="82" charset="0"/>
              </a:rPr>
              <a:t> </a:t>
            </a:r>
            <a:r>
              <a:rPr lang="en-US" sz="2800" u="sng" dirty="0" err="1" smtClean="0">
                <a:solidFill>
                  <a:srgbClr val="FF0066"/>
                </a:solidFill>
                <a:latin typeface="Algerian" pitchFamily="82" charset="0"/>
              </a:rPr>
              <a:t>MySQL</a:t>
            </a:r>
            <a:r>
              <a:rPr lang="en-US" sz="2800" u="sng" dirty="0" smtClean="0">
                <a:solidFill>
                  <a:srgbClr val="FF0066"/>
                </a:solidFill>
                <a:latin typeface="Algerian" pitchFamily="82" charset="0"/>
              </a:rPr>
              <a:t>, </a:t>
            </a:r>
            <a:r>
              <a:rPr lang="en-US" sz="2800" u="sng" dirty="0" err="1" smtClean="0">
                <a:solidFill>
                  <a:srgbClr val="FF0066"/>
                </a:solidFill>
                <a:latin typeface="Algerian" pitchFamily="82" charset="0"/>
              </a:rPr>
              <a:t>PostgreSQL</a:t>
            </a:r>
            <a:r>
              <a:rPr lang="en-US" sz="2800" u="sng" dirty="0" smtClean="0">
                <a:solidFill>
                  <a:srgbClr val="FF0066"/>
                </a:solidFill>
                <a:latin typeface="Algerian" pitchFamily="82" charset="0"/>
              </a:rPr>
              <a:t> and SQL SERVER </a:t>
            </a:r>
            <a:r>
              <a:rPr lang="en-US" sz="2800" u="sng" dirty="0" smtClean="0">
                <a:solidFill>
                  <a:srgbClr val="FF0066"/>
                </a:solidFill>
                <a:latin typeface="Algerian" pitchFamily="82" charset="0"/>
              </a:rPr>
              <a:t>.?</a:t>
            </a:r>
            <a:endParaRPr lang="fr-FR" sz="2800" u="sng" dirty="0">
              <a:solidFill>
                <a:srgbClr val="FF0066"/>
              </a:solidFill>
              <a:latin typeface="Algerian" pitchFamily="82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357430"/>
            <a:ext cx="7467600" cy="3768733"/>
          </a:xfrm>
        </p:spPr>
        <p:txBody>
          <a:bodyPr>
            <a:normAutofit lnSpcReduction="10000"/>
          </a:bodyPr>
          <a:lstStyle/>
          <a:p>
            <a:r>
              <a:rPr lang="fr-FR" b="1" dirty="0" smtClean="0"/>
              <a:t>KEY DIFFERENCE:</a:t>
            </a:r>
          </a:p>
          <a:p>
            <a:r>
              <a:rPr lang="fr-FR" dirty="0" err="1" smtClean="0"/>
              <a:t>PostgreSQL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an Object </a:t>
            </a:r>
            <a:r>
              <a:rPr lang="fr-FR" dirty="0" err="1" smtClean="0"/>
              <a:t>Relational</a:t>
            </a:r>
            <a:r>
              <a:rPr lang="fr-FR" dirty="0" smtClean="0"/>
              <a:t> </a:t>
            </a:r>
            <a:r>
              <a:rPr lang="fr-FR" dirty="0" err="1" smtClean="0"/>
              <a:t>Database</a:t>
            </a:r>
            <a:r>
              <a:rPr lang="fr-FR" dirty="0" smtClean="0"/>
              <a:t> Management System (ORDBMS) </a:t>
            </a:r>
            <a:r>
              <a:rPr lang="fr-FR" dirty="0" err="1" smtClean="0"/>
              <a:t>whereas</a:t>
            </a:r>
            <a:r>
              <a:rPr lang="fr-FR" dirty="0" smtClean="0"/>
              <a:t> MySQL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community</a:t>
            </a:r>
            <a:r>
              <a:rPr lang="fr-FR" dirty="0" smtClean="0"/>
              <a:t> </a:t>
            </a:r>
            <a:r>
              <a:rPr lang="fr-FR" dirty="0" err="1" smtClean="0"/>
              <a:t>driven</a:t>
            </a:r>
            <a:r>
              <a:rPr lang="fr-FR" dirty="0" smtClean="0"/>
              <a:t> DBMS system.</a:t>
            </a:r>
          </a:p>
          <a:p>
            <a:r>
              <a:rPr lang="fr-FR" dirty="0" err="1" smtClean="0"/>
              <a:t>PostgreSQL</a:t>
            </a:r>
            <a:r>
              <a:rPr lang="fr-FR" dirty="0" smtClean="0"/>
              <a:t> support modern applications </a:t>
            </a:r>
            <a:r>
              <a:rPr lang="fr-FR" dirty="0" err="1" smtClean="0"/>
              <a:t>feature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JSON, XML etc. </a:t>
            </a:r>
            <a:r>
              <a:rPr lang="fr-FR" dirty="0" err="1" smtClean="0"/>
              <a:t>while</a:t>
            </a:r>
            <a:r>
              <a:rPr lang="fr-FR" dirty="0" smtClean="0"/>
              <a:t> MySQL </a:t>
            </a:r>
            <a:r>
              <a:rPr lang="fr-FR" dirty="0" err="1" smtClean="0"/>
              <a:t>only</a:t>
            </a:r>
            <a:r>
              <a:rPr lang="fr-FR" dirty="0" smtClean="0"/>
              <a:t> supports JSON</a:t>
            </a:r>
            <a:r>
              <a:rPr lang="fr-FR" dirty="0" smtClean="0"/>
              <a:t>.</a:t>
            </a:r>
            <a:endParaRPr lang="fr-FR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00042"/>
            <a:ext cx="7467600" cy="5626121"/>
          </a:xfrm>
        </p:spPr>
        <p:txBody>
          <a:bodyPr>
            <a:normAutofit/>
          </a:bodyPr>
          <a:lstStyle/>
          <a:p>
            <a:r>
              <a:rPr lang="fr-FR" dirty="0" err="1" smtClean="0"/>
              <a:t>PostgreSQL</a:t>
            </a:r>
            <a:r>
              <a:rPr lang="fr-FR" dirty="0" smtClean="0"/>
              <a:t> </a:t>
            </a:r>
            <a:r>
              <a:rPr lang="fr-FR" dirty="0" smtClean="0"/>
              <a:t>performance </a:t>
            </a:r>
            <a:r>
              <a:rPr lang="fr-FR" dirty="0" err="1" smtClean="0"/>
              <a:t>well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executing</a:t>
            </a:r>
            <a:r>
              <a:rPr lang="fr-FR" dirty="0" smtClean="0"/>
              <a:t> </a:t>
            </a:r>
            <a:r>
              <a:rPr lang="fr-FR" dirty="0" err="1" smtClean="0"/>
              <a:t>complex</a:t>
            </a:r>
            <a:r>
              <a:rPr lang="fr-FR" dirty="0" smtClean="0"/>
              <a:t> </a:t>
            </a:r>
            <a:r>
              <a:rPr lang="fr-FR" dirty="0" err="1" smtClean="0"/>
              <a:t>queries</a:t>
            </a:r>
            <a:r>
              <a:rPr lang="fr-FR" dirty="0" smtClean="0"/>
              <a:t> </a:t>
            </a:r>
            <a:r>
              <a:rPr lang="fr-FR" dirty="0" err="1" smtClean="0"/>
              <a:t>whereas</a:t>
            </a:r>
            <a:r>
              <a:rPr lang="fr-FR" dirty="0" smtClean="0"/>
              <a:t> MySQL </a:t>
            </a:r>
            <a:r>
              <a:rPr lang="fr-FR" dirty="0" err="1" smtClean="0"/>
              <a:t>performs</a:t>
            </a:r>
            <a:r>
              <a:rPr lang="fr-FR" dirty="0" smtClean="0"/>
              <a:t> </a:t>
            </a:r>
            <a:r>
              <a:rPr lang="fr-FR" dirty="0" err="1" smtClean="0"/>
              <a:t>well</a:t>
            </a:r>
            <a:r>
              <a:rPr lang="fr-FR" dirty="0" smtClean="0"/>
              <a:t> in OLAP &amp; OLTP </a:t>
            </a:r>
            <a:r>
              <a:rPr lang="fr-FR" dirty="0" err="1" smtClean="0"/>
              <a:t>systems</a:t>
            </a:r>
            <a:r>
              <a:rPr lang="fr-FR" dirty="0" smtClean="0"/>
              <a:t>.</a:t>
            </a:r>
          </a:p>
          <a:p>
            <a:r>
              <a:rPr lang="fr-FR" dirty="0" err="1" smtClean="0"/>
              <a:t>PostgreSQL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complete</a:t>
            </a:r>
            <a:r>
              <a:rPr lang="fr-FR" dirty="0" smtClean="0"/>
              <a:t> ACID </a:t>
            </a:r>
            <a:r>
              <a:rPr lang="fr-FR" dirty="0" err="1" smtClean="0"/>
              <a:t>compliant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MySQL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ACID </a:t>
            </a:r>
            <a:r>
              <a:rPr lang="fr-FR" dirty="0" err="1" smtClean="0"/>
              <a:t>compliant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used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InnoDB</a:t>
            </a:r>
            <a:r>
              <a:rPr lang="fr-FR" dirty="0" smtClean="0"/>
              <a:t> and NDB.</a:t>
            </a:r>
          </a:p>
          <a:p>
            <a:r>
              <a:rPr lang="fr-FR" dirty="0" err="1" smtClean="0"/>
              <a:t>PostgreSQL</a:t>
            </a:r>
            <a:r>
              <a:rPr lang="fr-FR" dirty="0" smtClean="0"/>
              <a:t> supports </a:t>
            </a:r>
            <a:r>
              <a:rPr lang="fr-FR" dirty="0" err="1" smtClean="0"/>
              <a:t>Materialized</a:t>
            </a:r>
            <a:r>
              <a:rPr lang="fr-FR" dirty="0" smtClean="0"/>
              <a:t> </a:t>
            </a:r>
            <a:r>
              <a:rPr lang="fr-FR" dirty="0" err="1" smtClean="0"/>
              <a:t>Views</a:t>
            </a:r>
            <a:r>
              <a:rPr lang="fr-FR" dirty="0" smtClean="0"/>
              <a:t> </a:t>
            </a:r>
            <a:r>
              <a:rPr lang="fr-FR" dirty="0" err="1" smtClean="0"/>
              <a:t>whereas</a:t>
            </a:r>
            <a:r>
              <a:rPr lang="fr-FR" dirty="0" smtClean="0"/>
              <a:t> MySQL </a:t>
            </a:r>
            <a:r>
              <a:rPr lang="fr-FR" dirty="0" err="1" smtClean="0"/>
              <a:t>doesn’t</a:t>
            </a:r>
            <a:r>
              <a:rPr lang="fr-FR" dirty="0" smtClean="0"/>
              <a:t> supports </a:t>
            </a:r>
            <a:r>
              <a:rPr lang="fr-FR" dirty="0" err="1" smtClean="0"/>
              <a:t>Materialized</a:t>
            </a:r>
            <a:r>
              <a:rPr lang="fr-FR" dirty="0" smtClean="0"/>
              <a:t> </a:t>
            </a:r>
            <a:r>
              <a:rPr lang="fr-FR" dirty="0" err="1" smtClean="0"/>
              <a:t>Views</a:t>
            </a:r>
            <a:r>
              <a:rPr lang="fr-FR" dirty="0" smtClean="0"/>
              <a:t>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que">
  <a:themeElements>
    <a:clrScheme name="Technique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que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que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76</TotalTime>
  <Words>197</Words>
  <Application>Microsoft Office PowerPoint</Application>
  <PresentationFormat>Affichage à l'écran (4:3)</PresentationFormat>
  <Paragraphs>14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Technique</vt:lpstr>
      <vt:lpstr>THE RELATIONAL database management system  RDBMS</vt:lpstr>
      <vt:lpstr>DEFINITION</vt:lpstr>
      <vt:lpstr>Diapositive 3</vt:lpstr>
      <vt:lpstr>Diapositive 4</vt:lpstr>
      <vt:lpstr>What’s the difference between MySQL, PostgreSQL and SQL SERVER .?</vt:lpstr>
      <vt:lpstr>Diapositive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RELATIONAL RDBMS</dc:title>
  <dc:creator>Utilisateur Windows</dc:creator>
  <cp:lastModifiedBy>Utilisateur Windows</cp:lastModifiedBy>
  <cp:revision>8</cp:revision>
  <dcterms:created xsi:type="dcterms:W3CDTF">2021-05-05T20:10:07Z</dcterms:created>
  <dcterms:modified xsi:type="dcterms:W3CDTF">2021-05-05T21:26:22Z</dcterms:modified>
</cp:coreProperties>
</file>